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14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基于双通道时序信号的</a:t>
            </a:r>
            <a:br/>
            <a:r>
              <a:t>两阶段管道泄漏检测</a:t>
            </a:r>
            <a:br/>
            <a:r>
              <a:t>与定位方法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DBDBD"/>
                </a:solidFill>
                <a:latin typeface="Microsoft YaHei"/>
              </a:defRPr>
            </a:pPr>
            <a:r>
              <a:t>天津大学 2026 届本科生毕业设计答辩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40"/>
              </a:lnSpc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1B2A4A"/>
                </a:solidFill>
                <a:latin typeface="Microsoft YaHei"/>
              </a:defRPr>
            </a:pPr>
            <a:r>
              <a:t>答辩人：孟达</a:t>
            </a:r>
          </a:p>
          <a:p>
            <a:pPr algn="l">
              <a:lnSpc>
                <a:spcPts val="3240"/>
              </a:lnSpc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1B2A4A"/>
                </a:solidFill>
                <a:latin typeface="Microsoft YaHei"/>
              </a:defRPr>
            </a:pPr>
            <a:r>
              <a:t>学  院：建筑工程学院</a:t>
            </a:r>
          </a:p>
          <a:p>
            <a:pPr algn="l">
              <a:lnSpc>
                <a:spcPts val="3240"/>
              </a:lnSpc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1B2A4A"/>
                </a:solidFill>
                <a:latin typeface="Microsoft YaHei"/>
              </a:defRPr>
            </a:pPr>
            <a:r>
              <a:t>专  业：船舶与海洋工程</a:t>
            </a:r>
          </a:p>
          <a:p>
            <a:pPr algn="l">
              <a:lnSpc>
                <a:spcPts val="3240"/>
              </a:lnSpc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1B2A4A"/>
                </a:solidFill>
                <a:latin typeface="Microsoft YaHei"/>
              </a:defRPr>
            </a:pPr>
            <a:r>
              <a:t>学  号：3022205024</a:t>
            </a:r>
          </a:p>
          <a:p>
            <a:pPr algn="l">
              <a:lnSpc>
                <a:spcPts val="3240"/>
              </a:lnSpc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1B2A4A"/>
                </a:solidFill>
                <a:latin typeface="Microsoft YaHei"/>
              </a:defRPr>
            </a:pPr>
            <a:r>
              <a:t>导  师：顾鹏 讲师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汇报大纲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管道泄漏检测的工程需求与技术挑战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21408"/>
            <a:ext cx="9144000" cy="45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945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研究现状与问题提出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146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传统方法 → 机器学习 → 深度学习 → 本文切入点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898648"/>
            <a:ext cx="9144000" cy="45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7180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数据与任务设计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91839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管道原理、数据集构建、两阶段任务拆分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675887"/>
            <a:ext cx="9144000" cy="45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490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模型设计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690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一维 CNN 主干网络、Conformer 结构、训练策略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4453128"/>
            <a:ext cx="9144000" cy="45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2628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实验结果与分析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46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分类与回归结果、基线与消融实验、误差分析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5230368"/>
            <a:ext cx="9144000" cy="457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03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23559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主要贡献、不足与后续改进方向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Research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20"/>
              </a:lnSpc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●  管道输送系统广泛应用于能源、化工与市政基础设施</a:t>
            </a:r>
          </a:p>
          <a:p>
            <a:pPr algn="l">
              <a:lnSpc>
                <a:spcPts val="2720"/>
              </a:lnSpc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●  泄漏造成介质损失、环境污染、火灾爆炸等次生灾害</a:t>
            </a:r>
          </a:p>
          <a:p>
            <a:pPr algn="l">
              <a:lnSpc>
                <a:spcPts val="2720"/>
              </a:lnSpc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●  传统人工巡检难满足连续监测与快速定位需求</a:t>
            </a:r>
          </a:p>
          <a:p>
            <a:pPr algn="l">
              <a:lnSpc>
                <a:spcPts val="2720"/>
              </a:lnSpc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●  急需基于传感信号的自动泄漏识别与定位方法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2560320" cy="228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490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复杂噪声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21945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工况多变，</a:t>
            </a:r>
            <a:br/>
            <a:r>
              <a:t>背景噪声干扰大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474720"/>
            <a:ext cx="2560320" cy="228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7490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长时序信号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97680"/>
            <a:ext cx="21945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采样率 25600 Hz</a:t>
            </a:r>
            <a:br/>
            <a:r>
              <a:t>5秒含 128000 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474720"/>
            <a:ext cx="2560320" cy="228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490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微小泄漏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21945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非突发泄漏信号</a:t>
            </a:r>
            <a:br/>
            <a:r>
              <a:t>微弱，难区分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474720"/>
            <a:ext cx="2560320" cy="228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37490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精确定位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297680"/>
            <a:ext cx="21945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传统方法依赖</a:t>
            </a:r>
            <a:br/>
            <a:r>
              <a:t>传播速度标定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371600"/>
            <a:ext cx="2377440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64592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核心思路</a:t>
            </a:r>
            <a:br/>
            <a:br/>
            <a:r>
              <a:t>从原始双通道</a:t>
            </a:r>
            <a:br/>
            <a:r>
              <a:t>波形信号中</a:t>
            </a:r>
            <a:br/>
            <a:r>
              <a:t>端到端学习</a:t>
            </a:r>
            <a:br/>
            <a:r>
              <a:t>泄漏特征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国内外研究现状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从传统物理模型到深度时序建模的方法演进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传统物理模型方法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9184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声波法：利用传播时间差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负压波法：压力瞬态检测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流量平衡法：进出口比对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├ 物理解释性强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└ 依赖阈值、抗噪差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机器学习方法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29184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SVM / KNN / 随机森林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手工特征 + 分类器组合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时域统计 + 频域能量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├ 可自动学习判别边界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└ 特征设计依赖经验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深度学习方法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11680"/>
            <a:ext cx="329184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1D-CNN：局部波形特征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Transformer：长程依赖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Conformer：卷积+注意力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├ 端到端减少人工设计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└ 需充分数据与防泄漏划分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789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▸ 发展趋势：从物理模型驱动 → 数据驱动，从人工特征 → 端到端表示学习，从单一任务 → 多任务协同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10789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① 传统方法：特征设计依赖人工，泛化能力有限，定位精度不足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② 现有深度方法：大多单任务处理，分类与回归目标差异未被充分利用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③ 本文切入点：两阶段先分类后定位 + 1D-CNN/Conformer 结构对比 + 多层级评测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研究问题与本文工作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Research Problem &amp;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核心问题：如何利用双通道长时序传感信号，在减少人工特征设计的前提下，实现管道泄漏状态识别与泄漏距离估计？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47472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数据层面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原始 CSV → 固定窗口切分</a:t>
            </a:r>
            <a:br/>
            <a:r>
              <a:t>→ 文件级划分避免信息泄漏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94560"/>
            <a:ext cx="347472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任务层面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Stage2 分类：状态识别</a:t>
            </a:r>
            <a:br/>
            <a:r>
              <a:t>Stage1 回归：距离估计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2194560"/>
            <a:ext cx="347472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286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模型层面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65176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1D CNN 基础模型</a:t>
            </a:r>
            <a:br/>
            <a:r>
              <a:t>+ Conformer 结构对比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① 构建了原始 CSV 信号 → 固定窗口训练样本的自动化处理流程，采用文件级划分避免数据泄漏</a:t>
            </a:r>
          </a:p>
          <a:p>
            <a:pPr algn="l">
              <a:lnSpc>
                <a:spcPts val="252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② 建立两阶段学习框架：Stage2 分类（单通道 5分类）+ Stage1 回归（双通道距离估计）</a:t>
            </a:r>
          </a:p>
          <a:p>
            <a:pPr algn="l">
              <a:lnSpc>
                <a:spcPts val="252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③ 实现 1D CNN 基础模型（4层带步长卷积）+ Conformer 结构（卷积+自注意力混合）</a:t>
            </a:r>
          </a:p>
          <a:p>
            <a:pPr algn="l">
              <a:lnSpc>
                <a:spcPts val="252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④ 搭建统一训练框架，补充传统 ML 基线、通道消融和结构对比实验，多层级评测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管道泄漏探测原理与信号特征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Pipeline Leak Detection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● 泄漏点流体喷射 → 湍流、压力脉动、管壁振动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● 扰动沿管壁和流体传播 → 左右传感器接收响应差异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● 泄漏点距传感器越近 → 幅值衰减越小、响应越早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● 左右通道幅值差异、相位偏移 → 距离估计物理依据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信号关键特征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486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采样率 25,600 Hz × 5 s = 128,000 点/通道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非平稳性：泄漏扰动随工况变化，片段间差异大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双通道互补：单侧信号难区分「距离近」与「强度大」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多尺度模式：局部冲击 + 持续能量变化 + 周期性振荡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371600"/>
            <a:ext cx="5029200" cy="457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45720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6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① 实验台采集 → 左右通道 CSV 文件</a:t>
            </a:r>
          </a:p>
          <a:p>
            <a:pPr algn="l">
              <a:lnSpc>
                <a:spcPts val="266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② 固定窗口切分（5 s 非重叠）</a:t>
            </a:r>
          </a:p>
          <a:p>
            <a:pPr algn="l">
              <a:lnSpc>
                <a:spcPts val="266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③ 逐段标准化 (z-score)</a:t>
            </a:r>
          </a:p>
          <a:p>
            <a:pPr algn="l">
              <a:lnSpc>
                <a:spcPts val="266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④ 文件级划分 → 训练/验证/测试集</a:t>
            </a:r>
          </a:p>
          <a:p>
            <a:pPr algn="l">
              <a:lnSpc>
                <a:spcPts val="266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⑤ 分类：左右独立单通道样本</a:t>
            </a:r>
          </a:p>
          <a:p>
            <a:pPr algn="l">
              <a:lnSpc>
                <a:spcPts val="266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⑥ 回归：同窗口双通道配对样本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数据集构建与任务拆分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Dataset &amp; Task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2004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28346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数据集统计</a:t>
            </a:r>
            <a:br/>
            <a:r>
              <a:t>Stage2: 11,704 样本 | Stage1: 3,737 配对样本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5303520" cy="2926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6A17"/>
                </a:solidFill>
                <a:latin typeface="Microsoft YaHei"/>
              </a:defRPr>
            </a:pPr>
            <a:r>
              <a:t>Stage2 分类任务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49377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输入：单通道分段信号 (1 × 128,000)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输出：五类标签（正常 + 多类泄漏形态）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损失函数：交叉熵损失 (Cross-Entropy)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评价指标：Accuracy、Macro-F1、混淆矩阵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评测层级：片段级 + 文件级聚合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训练/验证/测试：7,940 / 2,464 / 1,300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651760"/>
            <a:ext cx="5303520" cy="2926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Stage1 回归任务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49377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输入：左右双通道配对 (2 × 128,000)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输出：泄漏距离（连续数值，单位 m）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损失函数：Smooth L1 损失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评价指标：MAE、RMSE、容差命中率、Bias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评测层级：片段级 + 文件级 + 按距离档位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训练/验证/测试：2,532 / 758 / 447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⚡ 关键设计：文件级划分 — 同文件的全部片段只属于一个数据子集，避免相邻片段泄漏到训练/测试集导致指标虚高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两阶段检测框架总体流程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Two-Stage Detection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01168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原始双通道</a:t>
            </a:r>
            <a:br/>
            <a:r>
              <a:t>CSV 信号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2011680" cy="9144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92024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固定窗口切分</a:t>
            </a:r>
            <a:br/>
            <a:r>
              <a:t>逐段标准化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828800"/>
            <a:ext cx="2011680" cy="9144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92024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Stage2 分类</a:t>
            </a:r>
            <a:br/>
            <a:r>
              <a:t>单通道输入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828800"/>
            <a:ext cx="2011680" cy="9144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2024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是否泄漏?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828800"/>
            <a:ext cx="20116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92024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Stage1 回归</a:t>
            </a:r>
            <a:br/>
            <a:r>
              <a:t>双通道输入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828800"/>
            <a:ext cx="20116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192024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距离估计</a:t>
            </a:r>
            <a:br/>
            <a:r>
              <a:t>结果输出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965960"/>
            <a:ext cx="365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B2A4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965960"/>
            <a:ext cx="365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B2A4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965960"/>
            <a:ext cx="365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B2A4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926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否 → 输出类别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4231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↓ 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74720"/>
            <a:ext cx="108813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设计理由：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① 状态识别与距离估计共享同一信号来源，但学习目标不同（离散判别 vs 连续回归）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② 正常样本只有分类意义，无距离标签 → 两阶段拆分避免标签语义混杂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③ 工程优势：Stage2 常驻监测 → 仅泄漏时触发 Stage1 → 减少无效计算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④ 模块化：两阶段可分别优化、独立更新、设置不同报警阈值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一维卷积特征提取网络 (1D-CNN Backbone)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1D CNN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网络结构：4 级卷积逐步降采样 → 全局平均池化 → 全连接任务头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64592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Conv1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574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C=32, K=15, S=4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574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128000 → 32000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574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局部波形</a:t>
            </a:r>
            <a:br/>
            <a:r>
              <a:t>细节提取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DBDBD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43200"/>
            <a:ext cx="1645920" cy="54864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Conv2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7889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C=64, K=9, S=4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7889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32000 → 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7889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中层特征</a:t>
            </a:r>
            <a:br/>
            <a:r>
              <a:t>模式组合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004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DBDBD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1645920" cy="548640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Conv3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5204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C=128, K=7, S=4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5204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8000 → 2000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52044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时域压缩</a:t>
            </a:r>
            <a:br/>
            <a:r>
              <a:t>感受野扩大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319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DBDBD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1645920" cy="5486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5196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Conv4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251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C=256, K=5, S=4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251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2000 → 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2519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高级语义</a:t>
            </a:r>
            <a:br/>
            <a:r>
              <a:t>全局表示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66344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DBDBD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937760"/>
            <a:ext cx="16459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834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Pool+FC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9834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AdaptiveAvgPool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9834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500 → 256 → 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983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→ 分类/回归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69280"/>
            <a:ext cx="10881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每层 = Conv1d + BatchNorm + GELU + Conv1d + BatchNorm + GELU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步长 4 逐步降采样：时序长度每次缩至 1/4，感受野逐层扩大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GELU 激活函数：相比 ReLU，负值区域保留信息，非线性更平滑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全局平均池化：减少参数量，降低过拟合风险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Conformer 时序建模结构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Conformer: CNN + Self-Attention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Conformer 编码块结构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① 卷积前端降采样（同 CNN，128000 → 500）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② 映射到隐空间 (d_model) + 位置编码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③ 堆叠 N 个 Conformer 编码层：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  ├ 前馈网络 (FFN) — 逐位置非线性变换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  ├ 多头自注意力 (MHSA) — 全局依赖建模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  ├ 卷积模块 (Conv) — 局部时序模式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  └ 残差连接 + LayerNorm — 稳定训练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④ 全局池化 → 任务头（同 CNN）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CNN vs Conformer 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920240"/>
            <a:ext cx="2377440" cy="41148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3852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1D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✓ 局部卷积建模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✓ 训练稳定、参数量可控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✓ 梯度传播顺畅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✗ 感受野受层数限制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✗ 长程依赖建模弱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920240"/>
            <a:ext cx="2377440" cy="4114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93852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Conformer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46888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✓ 局部 + 全局建模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✓ 多头注意力多视角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✓ 分类任务提升显著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✗ 计算复杂度更高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✗ 回归未见一致收益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846320"/>
            <a:ext cx="50292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937760"/>
            <a:ext cx="4663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6A17"/>
                </a:solidFill>
                <a:latin typeface="Microsoft YaHei"/>
              </a:defRPr>
            </a:pPr>
            <a:r>
              <a:t>⚡ 关键设计：注意力仅在降采样后的特征序列上计算</a:t>
            </a:r>
            <a:br/>
            <a:r>
              <a:t>原始 128000 点 → 卷积前端压缩 → ~500 长度 → 注意力</a:t>
            </a:r>
            <a:br/>
            <a:r>
              <a:t>避免 O(L²) 复杂度，兼顾计算可行性与长程建模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训练策略与正则化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Training Strategy &amp; Regularization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2743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优化器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4231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AdamW</a:t>
            </a:r>
            <a:br/>
            <a:r>
              <a:t>(lr_cnn=0.001, lr_conf=0.0005)</a:t>
            </a:r>
            <a:br/>
            <a:r>
              <a:t>解耦权重衰减 wd=1e-4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27432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学习率调度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4231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余弦退火 (Cosine Annealing)</a:t>
            </a:r>
            <a:br/>
            <a:r>
              <a:t>η_t = η_min + ½(η_max-η_min)(1+cos(tπ/T))</a:t>
            </a:r>
            <a:br/>
            <a:r>
              <a:t>平滑衰减，减少震荡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697480" cy="2743200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早停机制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24231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Patience = 8 epochs</a:t>
            </a:r>
            <a:br/>
            <a:r>
              <a:t>监控验证集指标</a:t>
            </a:r>
            <a:br/>
            <a:r>
              <a:t>分类→Acc, 回归→MAE</a:t>
            </a:r>
            <a:br/>
            <a:r>
              <a:t>恢复到最优模型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371600"/>
            <a:ext cx="2697480" cy="2743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46304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正则化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20240"/>
            <a:ext cx="24231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权重衰减 L2 (λ=0.0001)</a:t>
            </a:r>
            <a:br/>
            <a:r>
              <a:t>梯度裁剪 max_norm=1.0</a:t>
            </a:r>
            <a:br/>
            <a:r>
              <a:t>批归一化隐式正则</a:t>
            </a:r>
            <a:br/>
            <a:r>
              <a:t>逐段标准化消除幅值差异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训练流程：配置加载 → 数据加载 → 模型创建 → Epoch 循环 → [前向 → 损失 → 反向 → 梯度裁剪 → 参数更新] → 验证评估 → 早停判断 → 测试集评测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重要保障措施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随机种子固定 (seed=42)：保证数据划分和初始化可复现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文件级划分：同一原始文件的片段全部归入同一数据子集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分类以验证集 Accuracy 选模型，回归以验证集 MAE 选模型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统一框架：配置文件区分任务类型，训练器代码完全复用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实验评价体系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Evaluation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0352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Stage2 分类指标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377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Accuracy = N_correct / N_total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Macro-F1：各类别 F1 等权平均，反映少数类识别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混淆矩阵：展示类别间误分类模式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评测层级：片段级（单窗口判别）+ 文件级（聚合判断）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Stage1 回归指标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MAE = Σ|d_i - d̂_i| / N  （平均绝对误差）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RMSE = √(Σ(d_i - d̂_i)²/N)  （对大误差敏感）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Bias = mean(d̂_i - d_i)  （系统偏差方向）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容差命中率：|d̂_i - d_i| ≤ τ 的样本占比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多层级评测设计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269748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片段级评测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模型对单个 5 s 窗口的直接判断能力</a:t>
            </a:r>
            <a:br/>
            <a:r>
              <a:t>反映局部观测条件下的即时表现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3931920"/>
            <a:ext cx="269748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977639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文件级评测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2976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同文件多片段聚合后判断</a:t>
            </a:r>
            <a:br/>
            <a:r>
              <a:t>更接近工程中连续采集的综合决策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269748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77639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按距离档位拆分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976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不同距离位置的误差分别报告</a:t>
            </a:r>
            <a:br/>
            <a:r>
              <a:t>避免总体均值掩盖局部困难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931920"/>
            <a:ext cx="269748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3977639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物理误差分析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2976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Bias、P95、容差命中率、R²</a:t>
            </a:r>
            <a:br/>
            <a:r>
              <a:t>判断是否存在系统性偏差或大误差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实验矩阵：主模型 × 2（CNN / Conformer）| 任务 × 2（分类 / 回归）| 基线 × 3（SVM / KNN / 决策树）| 消融 × 2（通道 / 损失函数）</a:t>
            </a:r>
          </a:p>
          <a:p>
            <a:pPr algn="l">
              <a:lnSpc>
                <a:spcPts val="208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传统基线：时域统计特征 + 频域能量特征 → SVM / KNN / 决策树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Stage2 分类实验结果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Classification Results (5-class)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一维 CNN 分类结果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73736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评测层级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28800"/>
            <a:ext cx="173736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8745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173736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Macro-F1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86000"/>
            <a:ext cx="173736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片段级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286000"/>
            <a:ext cx="173736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3317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0.9415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286000"/>
            <a:ext cx="173736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3317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0.9180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43200"/>
            <a:ext cx="173736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文件级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743200"/>
            <a:ext cx="173736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27889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0.9783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743200"/>
            <a:ext cx="173736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0.9836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74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混淆矩阵分析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类别 4：识别最稳定，测试集全部正确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类别 1 ↔ 3：31 个片段混淆（局部波形相似）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类别 2 → 0/1：15 + 27 个片段误判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文件级聚合后：46 个文件中仅 1 个类别 2 误判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传统基线对比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828800"/>
            <a:ext cx="118872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874520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1828800"/>
            <a:ext cx="118872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1874520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片段Acc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1828800"/>
            <a:ext cx="118872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1874520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片段F1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1828800"/>
            <a:ext cx="118872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1874520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文件Acc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38560" y="1828800"/>
            <a:ext cx="118872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84280" y="1874520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文件F1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267712"/>
            <a:ext cx="118872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313432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6A17"/>
                </a:solidFill>
                <a:latin typeface="Microsoft YaHei"/>
              </a:defRPr>
            </a:pPr>
            <a:r>
              <a:t>1D CNN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2267712"/>
            <a:ext cx="118872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2313432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6A17"/>
                </a:solidFill>
                <a:latin typeface="Microsoft YaHei"/>
              </a:defRPr>
            </a:pPr>
            <a:r>
              <a:t>0.9415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2267712"/>
            <a:ext cx="118872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2313432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6A17"/>
                </a:solidFill>
                <a:latin typeface="Microsoft YaHei"/>
              </a:defRPr>
            </a:pPr>
            <a:r>
              <a:t>0.9180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4120" y="2267712"/>
            <a:ext cx="118872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2313432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6A17"/>
                </a:solidFill>
                <a:latin typeface="Microsoft YaHei"/>
              </a:defRPr>
            </a:pPr>
            <a:r>
              <a:t>0.9783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338560" y="2267712"/>
            <a:ext cx="118872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84280" y="2313432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6A17"/>
                </a:solidFill>
                <a:latin typeface="Microsoft YaHei"/>
              </a:defRPr>
            </a:pPr>
            <a:r>
              <a:t>0.9836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706624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275234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SVM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2706624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275234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0.9300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2706624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275234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0.9046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04120" y="2706624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275234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1.0000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338560" y="2706624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384280" y="275234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1.0000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45536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3191256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KNN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240" y="3145536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0" y="3191256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0.9277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3145536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15400" y="3191256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0.9155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04120" y="3145536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49840" y="3191256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0.9783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338560" y="3145536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384280" y="3191256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0.9751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3584448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3630168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决策树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35240" y="3584448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80960" y="3630168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0.8738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69680" y="3584448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15400" y="3630168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0.8309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04120" y="3584448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49840" y="3630168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0.9565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338560" y="3584448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384280" y="3630168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0.9600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206240"/>
            <a:ext cx="521208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0" y="4297680"/>
            <a:ext cx="48463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💡 关键发现：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① CNN 片段级优于传统方法，端到端学习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对单片段判别有收益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② 文件级 SVM 达 1.000，说明文件级可分性强</a:t>
            </a:r>
          </a:p>
          <a:p>
            <a:pPr algn="l">
              <a:lnSpc>
                <a:spcPts val="192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③ 分类数据中统计特征已含明显判别信息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Stage2 CNN vs Conformer 分类对比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Architecture Comparison for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一维 CNN vs Conformer — Stage2 五分类结果对比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46888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011680"/>
            <a:ext cx="246888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8483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片段级 Acc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246888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8483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片段级 Macro-F1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2011680"/>
            <a:ext cx="246888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08483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文件级 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1440" y="2011680"/>
            <a:ext cx="246888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0" y="208483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文件级 Macro-F1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606040"/>
            <a:ext cx="24688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67919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1D CNN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606040"/>
            <a:ext cx="24688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67919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0.9415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24688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0.9180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606040"/>
            <a:ext cx="24688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67919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0.9783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21440" y="2606040"/>
            <a:ext cx="24688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0" y="267919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0.9836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200400"/>
            <a:ext cx="2468880" cy="5029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27355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Conformer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200400"/>
            <a:ext cx="2468880" cy="5029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27355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0.9900 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200400"/>
            <a:ext cx="2468880" cy="5029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27355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0.9883 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3200400"/>
            <a:ext cx="2468880" cy="5029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327355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1.0000 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21440" y="3200400"/>
            <a:ext cx="2468880" cy="5029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0" y="3273552"/>
            <a:ext cx="2286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1.0000 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3832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E86A17"/>
                </a:solidFill>
                <a:latin typeface="Microsoft YaHei"/>
              </a:defRPr>
            </a:pPr>
            <a:r>
              <a:t>Conformer 片段级 Accuracy 提升: 0.9415 → 0.9900 (+5.2%)</a:t>
            </a:r>
          </a:p>
          <a:p>
            <a:pPr algn="l">
              <a:lnSpc>
                <a:spcPts val="2700"/>
              </a:lnSpc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E86A17"/>
                </a:solidFill>
                <a:latin typeface="Microsoft YaHei"/>
              </a:defRPr>
            </a:pPr>
            <a:r>
              <a:t>Conformer 片段级 Macro-F1 提升: 0.9180 → 0.9883 (+7.7%)</a:t>
            </a:r>
          </a:p>
          <a:p>
            <a:pPr algn="l">
              <a:lnSpc>
                <a:spcPts val="2700"/>
              </a:lnSpc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E86A17"/>
                </a:solidFill>
                <a:latin typeface="Microsoft YaHei"/>
              </a:defRPr>
            </a:pPr>
            <a:r>
              <a:t>文件级 Accuracy 和 Macro-F1 均达到 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54880"/>
            <a:ext cx="108813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自注意力机制有效捕获长程上下文 → 多个片段互相印证，减少局部噪声干扰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卷积模块保留局部波形建模 → 短时冲击和局部振荡不被遗漏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注意力在 CNN 降采样后计算 → 计算可行（~500 长度而非 128000）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● Conformer 训练对超参数更敏感（学习率 0.0005 vs CNN 0.001）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Stage1 距离回归实验结果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Distance Regression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一维 CNN 回归结果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554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评测层级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828800"/>
            <a:ext cx="1554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874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MAE (m)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828800"/>
            <a:ext cx="1554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874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RMSE (m)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86000"/>
            <a:ext cx="155448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片段级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286000"/>
            <a:ext cx="155448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331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1.90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286000"/>
            <a:ext cx="155448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331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2.43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43200"/>
            <a:ext cx="155448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文件级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743200"/>
            <a:ext cx="155448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7889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2.46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743200"/>
            <a:ext cx="1554480" cy="411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7889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8346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物理误差分析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0896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中位绝对误差: 1.45 m  |  P95 误差: 4.99 m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最大绝对误差: 6.86 m  |  R² = 0.54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Bias (有符号偏差): +0.45 m (整体偏正)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误差 ≤ 1.0 m: 35%  | 误差 ≤ 2.0 m: 66%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按距离档位误差分布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距离 (m)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-3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-1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+1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41280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+5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81359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59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+6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521440" y="1828800"/>
            <a:ext cx="62179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21440" y="185623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+7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样本数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69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0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41280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0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81359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81359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521440" y="224028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521440" y="226771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265176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MAE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40880" y="265176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40880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80960" y="2651760"/>
            <a:ext cx="621792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80960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4.85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265176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21040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0.67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265176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61120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2.14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01200" y="265176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01200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2.44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41280" y="265176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41280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1.24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881359" y="265176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81359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0.61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521440" y="265176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521440" y="267919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0.95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306324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0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≤1m%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0880" y="306324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0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13%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80960" y="3063240"/>
            <a:ext cx="621792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80960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21040" y="3063240"/>
            <a:ext cx="621792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1040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74%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61120" y="306324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61120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9%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01200" y="306324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01200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241280" y="306324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241280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37%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881359" y="3063240"/>
            <a:ext cx="621792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881359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521440" y="3063240"/>
            <a:ext cx="621792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521440" y="3090672"/>
            <a:ext cx="6217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61%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384048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0" y="4206240"/>
            <a:ext cx="52120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0 m 和 +6 m 定位较好（误差 ≤1 m 超 74%）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-1 m 误差最大：仅 23 个样本，模型学习不充分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两端距离向中间压缩（回归到均值现象）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文件级 MAE &gt; 片段级：简单平均不改善回归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● R²=0.54：已学到距离信息，但精度仍有限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Stage1 基线对比与消融实验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Baselines Comparison &amp; Ablation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传统基线对比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828800"/>
            <a:ext cx="128016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874520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片段MAE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828800"/>
            <a:ext cx="128016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59" y="1874520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片段RMSE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828800"/>
            <a:ext cx="128016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74520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≤1.0m%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67712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13432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1D CNN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267712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313432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2267712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59" y="2313432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267712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313432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06624"/>
            <a:ext cx="1280160" cy="3931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52344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2706624"/>
            <a:ext cx="1280160" cy="3931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2752344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1.51 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39" y="2706624"/>
            <a:ext cx="1280160" cy="3931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59" y="2752344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1.91 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706624"/>
            <a:ext cx="1280160" cy="3931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752344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46%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145536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91256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KNN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3145536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0" y="3191256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1.76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39" y="3145536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59" y="3191256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3145536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191256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584448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630168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决策树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5960" y="3584448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3630168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2.44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39" y="3584448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59" y="3630168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2.97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7720" y="3584448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3630168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374903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通道消融实验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206240"/>
            <a:ext cx="128016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251960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设置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65960" y="4206240"/>
            <a:ext cx="128016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0" y="4251960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片段MAE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39" y="4206240"/>
            <a:ext cx="128016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7559" y="4251960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片段RMSE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4206240"/>
            <a:ext cx="128016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4251960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≤1.0m%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645152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4690872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双通道（默认）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65960" y="4645152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11680" y="4690872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1.90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39" y="4645152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37559" y="4690872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2.43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17720" y="4645152"/>
            <a:ext cx="128016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63440" y="4690872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5084064"/>
            <a:ext cx="1280160" cy="3931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129784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单通道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65960" y="5084064"/>
            <a:ext cx="1280160" cy="3931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11680" y="5129784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3.88 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39" y="5084064"/>
            <a:ext cx="1280160" cy="3931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37559" y="5129784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4.75 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17720" y="5084064"/>
            <a:ext cx="1280160" cy="3931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0" y="5129784"/>
            <a:ext cx="1188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CNN vs Conformer 回归对比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1828800"/>
            <a:ext cx="123444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46520" y="1874520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80960" y="1828800"/>
            <a:ext cx="123444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26680" y="1874520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片段MAE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1828800"/>
            <a:ext cx="123444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06840" y="1874520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片段RMSE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41280" y="1828800"/>
            <a:ext cx="123444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87000" y="1874520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文件MAE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521440" y="1828800"/>
            <a:ext cx="1234440" cy="3931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567160" y="1874520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文件RMSE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2267712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2313432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1D CNN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80960" y="2267712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26680" y="2313432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1.90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61120" y="2267712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06840" y="2313432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2.43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241280" y="2267712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87000" y="2313432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2.46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521440" y="2267712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567160" y="2313432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2.94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00800" y="2706624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46520" y="2752344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Conformer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80960" y="2706624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26680" y="2752344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1.95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61120" y="2706624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06840" y="2752344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41280" y="2706624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87000" y="2752344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2.51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521440" y="2706624"/>
            <a:ext cx="1234440" cy="393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567160" y="2752344"/>
            <a:ext cx="11430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3.10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0" y="283464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→ Conformer 回归未超 CNN！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338328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0" y="3749039"/>
            <a:ext cx="52120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① SVM 在当前回归任务上表现最强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→ 手工时频特征 + 核方法仍具竞争力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② 单通道 MAE 从 1.90 → 3.88 (+104%)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→ 双通道差异是定位的关键信息来源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③ Conformer 回归未优于 CNN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→ 距离回归对细粒度差异敏感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→ 强全局建模可能平滑局部关键差异</a:t>
            </a:r>
          </a:p>
          <a:p>
            <a:pPr algn="l">
              <a:lnSpc>
                <a:spcPts val="2039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④ 回归任务仍是后续优化的重点方向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实验结果总览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Overall Results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3716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任务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164592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32588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280160"/>
            <a:ext cx="27432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32588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片段主指标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27432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2588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文件主指标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210312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32588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084831"/>
            <a:ext cx="13716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30551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Stage2</a:t>
            </a:r>
            <a:br/>
            <a:r>
              <a:t>分类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084831"/>
            <a:ext cx="16459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2130551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1D CNN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084831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130551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Acc 0.9415</a:t>
            </a:r>
            <a:br/>
            <a:r>
              <a:t>F1 0.9180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84831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30551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Acc 0.9783</a:t>
            </a:r>
            <a:br/>
            <a:r>
              <a:t>F1 0.9836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084831"/>
            <a:ext cx="21031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130551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✓ 良好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889504"/>
            <a:ext cx="13716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935224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Stage2</a:t>
            </a:r>
            <a:br/>
            <a:r>
              <a:t>分类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889504"/>
            <a:ext cx="16459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2935224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Conformer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889504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2935224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Acc 0.9900</a:t>
            </a:r>
            <a:br/>
            <a:r>
              <a:t>F1 0.9883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89504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935224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Acc 1.0000</a:t>
            </a:r>
            <a:br/>
            <a:r>
              <a:t>F1 1.0000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889504"/>
            <a:ext cx="21031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2935224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★ 最优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694176"/>
            <a:ext cx="13716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739896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Stage2</a:t>
            </a:r>
            <a:br/>
            <a:r>
              <a:t>分类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3694176"/>
            <a:ext cx="16459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3739896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SVM基线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694176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3739896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Acc 0.9300</a:t>
            </a:r>
            <a:br/>
            <a:r>
              <a:t>F1 0.9046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694176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739896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Acc 1.0000</a:t>
            </a:r>
            <a:br/>
            <a:r>
              <a:t>F1 1.0000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694176"/>
            <a:ext cx="21031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739896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✓ 强基线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498848"/>
            <a:ext cx="13716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544568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Stage1</a:t>
            </a:r>
            <a:br/>
            <a:r>
              <a:t>回归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4498848"/>
            <a:ext cx="16459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4544568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1D CNN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4498848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4544568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MAE 1.90</a:t>
            </a:r>
            <a:br/>
            <a:r>
              <a:t>RMSE 2.43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498848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544568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MAE 2.46</a:t>
            </a:r>
            <a:br/>
            <a:r>
              <a:t>RMSE 2.94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4498848"/>
            <a:ext cx="2103120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4544568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△ 可接受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5303520"/>
            <a:ext cx="13716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34924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Stage1</a:t>
            </a:r>
            <a:br/>
            <a:r>
              <a:t>回归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5303520"/>
            <a:ext cx="16459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0" y="534924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SVM基线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0" y="5303520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9040" y="534924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MAE 1.51</a:t>
            </a:r>
            <a:br/>
            <a:r>
              <a:t>RMSE 1.91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303520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534924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MAE 1.83</a:t>
            </a:r>
            <a:br/>
            <a:r>
              <a:t>RMSE 2.20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5303520"/>
            <a:ext cx="21031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35440" y="534924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★ 最优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6108192"/>
            <a:ext cx="13716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153912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Stage1</a:t>
            </a:r>
            <a:br/>
            <a:r>
              <a:t>回归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0" y="6108192"/>
            <a:ext cx="16459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0" y="615391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Conformer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6108192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40" y="6153912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MAE 1.95</a:t>
            </a:r>
            <a:br/>
            <a:r>
              <a:t>RMSE 2.63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6108192"/>
            <a:ext cx="274320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6153912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MAE 2.51</a:t>
            </a:r>
            <a:br/>
            <a:r>
              <a:t>RMSE 3.10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0" y="6108192"/>
            <a:ext cx="210312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35440" y="6153912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未超越CNN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5486400"/>
            <a:ext cx="1088136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结论：① 分类任务已达到工程可用水平（文件级 Acc ≥ 97.8%） ② 距离回归验证了可行性但精度待提升（MAE 1.9 m）</a:t>
            </a:r>
          </a:p>
          <a:p>
            <a:pPr algn="l">
              <a:lnSpc>
                <a:spcPts val="2380"/>
              </a:lnSpc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双通道输入对定位至关重要（单通道 MAE 恶化 104%） ④ 更强模型 ≠ 更好回归（需匹配任务性质与数据规模）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主要贡献与研究局限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Contributions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主要贡献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① 数据层面：构建了从原始 CSV → 分段样本的</a:t>
            </a:r>
            <a:br/>
            <a:r>
              <a:t>    自动化流程，文件级划分防止数据泄漏</a:t>
            </a:r>
          </a:p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② 任务层面：将泄漏检测拆分为分类 + 回归</a:t>
            </a:r>
            <a:br/>
            <a:r>
              <a:t>    两阶段，降低耦合度，提高可解释性</a:t>
            </a:r>
          </a:p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③ 模型层面：1D CNN 基础模型 + Conformer</a:t>
            </a:r>
            <a:br/>
            <a:r>
              <a:t>    结构对比，分析不同建模方式的适用边界</a:t>
            </a:r>
          </a:p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④ 实验层面：多层级评测 + 传统基线 +</a:t>
            </a:r>
            <a:br/>
            <a:r>
              <a:t>    消融实验，避免单一指标误导结论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当前局限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① 数据规模有限：工况覆盖不足，距离档位</a:t>
            </a:r>
            <a:br/>
            <a:r>
              <a:t>    分布不均衡（-1 m 仅 23 样本）</a:t>
            </a:r>
          </a:p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② 回归误差仍大：P95 误差 4.99 m，部分</a:t>
            </a:r>
            <a:br/>
            <a:r>
              <a:t>    距离容差命中率低于 10%</a:t>
            </a:r>
          </a:p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③ 深度模型未全面领先：SVM 在回归任务</a:t>
            </a:r>
            <a:br/>
            <a:r>
              <a:t>    上 MAE 低于 1D CNN（1.51 vs 1.90）</a:t>
            </a:r>
          </a:p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④ 文件级聚合策略简单：回归中简单平均</a:t>
            </a:r>
            <a:br/>
            <a:r>
              <a:t>    反而可能增大误差</a:t>
            </a:r>
          </a:p>
          <a:p>
            <a:pPr algn="l">
              <a:lnSpc>
                <a:spcPts val="234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⑤ 未解决在线漂移：跨工况泛化、传感器</a:t>
            </a:r>
            <a:br/>
            <a:r>
              <a:t>    老化和环境变化有待验证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结论与展望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2560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全文总结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验证了两阶段框架的可行性：Stage2 分类 + Stage1 回归，任务拆解清晰，模块可独立优化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 分类任务表现成熟：CNN 文件级 Acc 97.8%，Conformer 达到文件级 100%，具备工程可用性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3. 距离回归初步验证：CNN 片段级 MAE 1.90 m，证明双通道原始波形中包含可学习的距离信息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4. 双通道输入是定位基础：消融实验证实单通道退化严重（MAE +104%），通道间差异 = 定位关键</a:t>
            </a:r>
          </a:p>
          <a:p>
            <a:pPr algn="l">
              <a:lnSpc>
                <a:spcPts val="221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5. 深度模型 ≠ 全面更优：SVM 在回归任务上领先，提醒模型选择需匹配任务性质与数据规模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6A17"/>
                </a:solidFill>
                <a:latin typeface="Microsoft YaHei"/>
              </a:defRPr>
            </a:pPr>
            <a:r>
              <a:t>后续工作展望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347472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数据扩充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补充多工况、多距离档位数据</a:t>
            </a:r>
            <a:br/>
            <a:r>
              <a:t>跨压力/流量/管径实验验证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663440"/>
            <a:ext cx="347472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709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模型改进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074920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距离感知损失、时频特征融合</a:t>
            </a:r>
            <a:br/>
            <a:r>
              <a:t>不确定性估计、轻量化部署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4663440"/>
            <a:ext cx="347472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4709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评测升级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5074920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跨批次/跨工况严格测试</a:t>
            </a:r>
            <a:br/>
            <a:r>
              <a:t>在线增量学习与漂移检测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Microsoft YaHe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感谢各位老师批评指正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DBDBD"/>
                </a:solidFill>
                <a:latin typeface="Microsoft YaHei"/>
              </a:defRPr>
            </a:pPr>
            <a:r>
              <a:t>基于双通道时序信号的两阶段管道泄漏检测与定位方法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DBDBD"/>
                </a:solidFill>
                <a:latin typeface="Microsoft YaHei"/>
              </a:defRPr>
            </a:pPr>
            <a:r>
              <a:t>答辩人：孟达  |  天津大学建筑工程学院  |  船舶与海洋工程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DBDBD"/>
                </a:solidFill>
                <a:latin typeface="Microsoft YaHei"/>
              </a:defRPr>
            </a:pPr>
            <a:r>
              <a:t>导师：顾鹏 讲师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6A17"/>
                </a:solidFill>
                <a:latin typeface="Microsoft YaHei"/>
              </a:defRPr>
            </a:pPr>
            <a:r>
              <a:t>欢迎提问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